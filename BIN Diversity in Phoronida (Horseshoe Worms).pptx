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7" r:id="rId4"/>
    <p:sldId id="258" r:id="rId5"/>
    <p:sldId id="260" r:id="rId6"/>
    <p:sldId id="271" r:id="rId7"/>
    <p:sldId id="272" r:id="rId8"/>
    <p:sldId id="262" r:id="rId9"/>
    <p:sldId id="273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0" autoAdjust="0"/>
    <p:restoredTop sz="94660"/>
  </p:normalViewPr>
  <p:slideViewPr>
    <p:cSldViewPr snapToGrid="0">
      <p:cViewPr>
        <p:scale>
          <a:sx n="80" d="100"/>
          <a:sy n="80" d="100"/>
        </p:scale>
        <p:origin x="483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n Tsukernik" userId="4b85f9774ff30eac" providerId="LiveId" clId="{234F80CC-A0E5-4DF7-A8FF-5AC8A23F0D83}"/>
    <pc:docChg chg="custSel modSld">
      <pc:chgData name="Sharon Tsukernik" userId="4b85f9774ff30eac" providerId="LiveId" clId="{234F80CC-A0E5-4DF7-A8FF-5AC8A23F0D83}" dt="2025-10-13T19:18:08.403" v="57" actId="1076"/>
      <pc:docMkLst>
        <pc:docMk/>
      </pc:docMkLst>
      <pc:sldChg chg="modSp mod">
        <pc:chgData name="Sharon Tsukernik" userId="4b85f9774ff30eac" providerId="LiveId" clId="{234F80CC-A0E5-4DF7-A8FF-5AC8A23F0D83}" dt="2025-10-13T19:17:47.736" v="55" actId="1076"/>
        <pc:sldMkLst>
          <pc:docMk/>
          <pc:sldMk cId="3853548029" sldId="257"/>
        </pc:sldMkLst>
        <pc:spChg chg="mod">
          <ac:chgData name="Sharon Tsukernik" userId="4b85f9774ff30eac" providerId="LiveId" clId="{234F80CC-A0E5-4DF7-A8FF-5AC8A23F0D83}" dt="2025-10-13T19:17:47.736" v="55" actId="1076"/>
          <ac:spMkLst>
            <pc:docMk/>
            <pc:sldMk cId="3853548029" sldId="257"/>
            <ac:spMk id="2" creationId="{5E5A02D4-8B3C-C380-A62C-7FE34E560E98}"/>
          </ac:spMkLst>
        </pc:spChg>
      </pc:sldChg>
      <pc:sldChg chg="modSp mod">
        <pc:chgData name="Sharon Tsukernik" userId="4b85f9774ff30eac" providerId="LiveId" clId="{234F80CC-A0E5-4DF7-A8FF-5AC8A23F0D83}" dt="2025-10-13T19:18:08.403" v="57" actId="1076"/>
        <pc:sldMkLst>
          <pc:docMk/>
          <pc:sldMk cId="2140155317" sldId="258"/>
        </pc:sldMkLst>
        <pc:spChg chg="mod">
          <ac:chgData name="Sharon Tsukernik" userId="4b85f9774ff30eac" providerId="LiveId" clId="{234F80CC-A0E5-4DF7-A8FF-5AC8A23F0D83}" dt="2025-10-13T19:18:08.403" v="57" actId="1076"/>
          <ac:spMkLst>
            <pc:docMk/>
            <pc:sldMk cId="2140155317" sldId="258"/>
            <ac:spMk id="2" creationId="{D3A45632-F717-4F00-6B64-AB2DA04BF866}"/>
          </ac:spMkLst>
        </pc:spChg>
        <pc:spChg chg="mod">
          <ac:chgData name="Sharon Tsukernik" userId="4b85f9774ff30eac" providerId="LiveId" clId="{234F80CC-A0E5-4DF7-A8FF-5AC8A23F0D83}" dt="2025-10-13T19:07:23.559" v="18" actId="20577"/>
          <ac:spMkLst>
            <pc:docMk/>
            <pc:sldMk cId="2140155317" sldId="258"/>
            <ac:spMk id="3" creationId="{D6C0D075-2C3A-57CF-77C4-A442EA2B1BB8}"/>
          </ac:spMkLst>
        </pc:spChg>
      </pc:sldChg>
      <pc:sldChg chg="modSp mod">
        <pc:chgData name="Sharon Tsukernik" userId="4b85f9774ff30eac" providerId="LiveId" clId="{234F80CC-A0E5-4DF7-A8FF-5AC8A23F0D83}" dt="2025-10-13T19:07:38.168" v="21" actId="1076"/>
        <pc:sldMkLst>
          <pc:docMk/>
          <pc:sldMk cId="1701119741" sldId="260"/>
        </pc:sldMkLst>
        <pc:picChg chg="mod">
          <ac:chgData name="Sharon Tsukernik" userId="4b85f9774ff30eac" providerId="LiveId" clId="{234F80CC-A0E5-4DF7-A8FF-5AC8A23F0D83}" dt="2025-10-13T19:07:38.168" v="21" actId="1076"/>
          <ac:picMkLst>
            <pc:docMk/>
            <pc:sldMk cId="1701119741" sldId="260"/>
            <ac:picMk id="7" creationId="{EA4DC2CD-8CDD-5DC0-2146-CCD804215B43}"/>
          </ac:picMkLst>
        </pc:picChg>
      </pc:sldChg>
      <pc:sldChg chg="modSp mod">
        <pc:chgData name="Sharon Tsukernik" userId="4b85f9774ff30eac" providerId="LiveId" clId="{234F80CC-A0E5-4DF7-A8FF-5AC8A23F0D83}" dt="2025-10-13T19:10:53.510" v="32" actId="20577"/>
        <pc:sldMkLst>
          <pc:docMk/>
          <pc:sldMk cId="3450915920" sldId="262"/>
        </pc:sldMkLst>
        <pc:spChg chg="mod">
          <ac:chgData name="Sharon Tsukernik" userId="4b85f9774ff30eac" providerId="LiveId" clId="{234F80CC-A0E5-4DF7-A8FF-5AC8A23F0D83}" dt="2025-10-13T19:10:53.510" v="32" actId="20577"/>
          <ac:spMkLst>
            <pc:docMk/>
            <pc:sldMk cId="3450915920" sldId="262"/>
            <ac:spMk id="3" creationId="{4DA0B1B8-D8C2-8D8D-32B1-D1605EB35007}"/>
          </ac:spMkLst>
        </pc:spChg>
      </pc:sldChg>
      <pc:sldChg chg="modSp mod">
        <pc:chgData name="Sharon Tsukernik" userId="4b85f9774ff30eac" providerId="LiveId" clId="{234F80CC-A0E5-4DF7-A8FF-5AC8A23F0D83}" dt="2025-10-13T19:13:36.207" v="53" actId="20577"/>
        <pc:sldMkLst>
          <pc:docMk/>
          <pc:sldMk cId="3624070514" sldId="264"/>
        </pc:sldMkLst>
        <pc:spChg chg="mod">
          <ac:chgData name="Sharon Tsukernik" userId="4b85f9774ff30eac" providerId="LiveId" clId="{234F80CC-A0E5-4DF7-A8FF-5AC8A23F0D83}" dt="2025-10-13T19:13:36.207" v="53" actId="20577"/>
          <ac:spMkLst>
            <pc:docMk/>
            <pc:sldMk cId="3624070514" sldId="264"/>
            <ac:spMk id="3" creationId="{2EEE9555-0563-A42C-98C8-04D8AB476F43}"/>
          </ac:spMkLst>
        </pc:spChg>
      </pc:sldChg>
      <pc:sldChg chg="modSp mod">
        <pc:chgData name="Sharon Tsukernik" userId="4b85f9774ff30eac" providerId="LiveId" clId="{234F80CC-A0E5-4DF7-A8FF-5AC8A23F0D83}" dt="2025-10-13T19:11:43.222" v="43" actId="20577"/>
        <pc:sldMkLst>
          <pc:docMk/>
          <pc:sldMk cId="3848317526" sldId="266"/>
        </pc:sldMkLst>
        <pc:spChg chg="mod">
          <ac:chgData name="Sharon Tsukernik" userId="4b85f9774ff30eac" providerId="LiveId" clId="{234F80CC-A0E5-4DF7-A8FF-5AC8A23F0D83}" dt="2025-10-13T19:11:43.222" v="43" actId="20577"/>
          <ac:spMkLst>
            <pc:docMk/>
            <pc:sldMk cId="3848317526" sldId="266"/>
            <ac:spMk id="3" creationId="{038C5B3F-7DBE-10FB-997B-885C91B64E3D}"/>
          </ac:spMkLst>
        </pc:spChg>
      </pc:sldChg>
      <pc:sldChg chg="modSp mod">
        <pc:chgData name="Sharon Tsukernik" userId="4b85f9774ff30eac" providerId="LiveId" clId="{234F80CC-A0E5-4DF7-A8FF-5AC8A23F0D83}" dt="2025-10-13T19:14:13.411" v="54" actId="33524"/>
        <pc:sldMkLst>
          <pc:docMk/>
          <pc:sldMk cId="1700493141" sldId="267"/>
        </pc:sldMkLst>
        <pc:spChg chg="mod">
          <ac:chgData name="Sharon Tsukernik" userId="4b85f9774ff30eac" providerId="LiveId" clId="{234F80CC-A0E5-4DF7-A8FF-5AC8A23F0D83}" dt="2025-10-13T19:14:13.411" v="54" actId="33524"/>
          <ac:spMkLst>
            <pc:docMk/>
            <pc:sldMk cId="1700493141" sldId="267"/>
            <ac:spMk id="3" creationId="{A7256494-6A53-993F-CEC9-4E5FF2E02B3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1DC667-2716-4A58-B64E-3ACAC0BA108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5EF3C76-0B0C-41C6-8F06-019385F1773B}">
      <dgm:prSet custT="1"/>
      <dgm:spPr/>
      <dgm:t>
        <a:bodyPr/>
        <a:lstStyle/>
        <a:p>
          <a:r>
            <a:rPr lang="en-US" sz="1500" dirty="0"/>
            <a:t>There are around 280 Phoronida records from BOLD</a:t>
          </a:r>
        </a:p>
      </dgm:t>
    </dgm:pt>
    <dgm:pt modelId="{DD09974E-7364-4D4A-BACB-C39EC3147EC1}" type="parTrans" cxnId="{79310B56-CEB8-43FF-B84E-BE3AFB105E30}">
      <dgm:prSet/>
      <dgm:spPr/>
      <dgm:t>
        <a:bodyPr/>
        <a:lstStyle/>
        <a:p>
          <a:endParaRPr lang="en-US" sz="1500"/>
        </a:p>
      </dgm:t>
    </dgm:pt>
    <dgm:pt modelId="{996D585D-458C-403F-ABB5-C9B5810A1CA7}" type="sibTrans" cxnId="{79310B56-CEB8-43FF-B84E-BE3AFB105E30}">
      <dgm:prSet custT="1"/>
      <dgm:spPr/>
      <dgm:t>
        <a:bodyPr/>
        <a:lstStyle/>
        <a:p>
          <a:endParaRPr lang="en-US" sz="1500"/>
        </a:p>
      </dgm:t>
    </dgm:pt>
    <dgm:pt modelId="{0E9E06EB-C872-4F7F-944D-91CDB554AC41}">
      <dgm:prSet custT="1"/>
      <dgm:spPr/>
      <dgm:t>
        <a:bodyPr/>
        <a:lstStyle/>
        <a:p>
          <a:r>
            <a:rPr lang="en-US" sz="1500" dirty="0"/>
            <a:t>Downloaded data and isolated columns that were of use for the analysis</a:t>
          </a:r>
        </a:p>
      </dgm:t>
    </dgm:pt>
    <dgm:pt modelId="{AF4B4FF0-C697-45AC-A3A0-07010FF87987}" type="parTrans" cxnId="{72E37594-065B-4D05-922E-4C194933AAB4}">
      <dgm:prSet/>
      <dgm:spPr/>
      <dgm:t>
        <a:bodyPr/>
        <a:lstStyle/>
        <a:p>
          <a:endParaRPr lang="en-US" sz="1500"/>
        </a:p>
      </dgm:t>
    </dgm:pt>
    <dgm:pt modelId="{B62FB5AA-BCA8-4853-9310-D200CF141310}" type="sibTrans" cxnId="{72E37594-065B-4D05-922E-4C194933AAB4}">
      <dgm:prSet custT="1"/>
      <dgm:spPr/>
      <dgm:t>
        <a:bodyPr/>
        <a:lstStyle/>
        <a:p>
          <a:endParaRPr lang="en-US" sz="1500"/>
        </a:p>
      </dgm:t>
    </dgm:pt>
    <dgm:pt modelId="{9951D3EA-C99A-442B-B293-1E7072F15AA4}">
      <dgm:prSet custT="1"/>
      <dgm:spPr/>
      <dgm:t>
        <a:bodyPr/>
        <a:lstStyle/>
        <a:p>
          <a:r>
            <a:rPr lang="en-US" sz="1500" dirty="0"/>
            <a:t>Sorted between unique species and BINs from Panama vs Canada</a:t>
          </a:r>
        </a:p>
      </dgm:t>
    </dgm:pt>
    <dgm:pt modelId="{9B6160CE-2627-4062-94B2-85BE9319B0C9}" type="parTrans" cxnId="{583A98FE-0F1E-4EA3-87B0-AA5067FA2D4B}">
      <dgm:prSet/>
      <dgm:spPr/>
      <dgm:t>
        <a:bodyPr/>
        <a:lstStyle/>
        <a:p>
          <a:endParaRPr lang="en-US" sz="1500"/>
        </a:p>
      </dgm:t>
    </dgm:pt>
    <dgm:pt modelId="{4EE229A8-B669-4765-B50B-C3471FFE8A0D}" type="sibTrans" cxnId="{583A98FE-0F1E-4EA3-87B0-AA5067FA2D4B}">
      <dgm:prSet custT="1"/>
      <dgm:spPr/>
      <dgm:t>
        <a:bodyPr/>
        <a:lstStyle/>
        <a:p>
          <a:endParaRPr lang="en-US" sz="1500"/>
        </a:p>
      </dgm:t>
    </dgm:pt>
    <dgm:pt modelId="{F87612B8-C75C-42D7-8C8D-3E9C74E65F9F}">
      <dgm:prSet custT="1"/>
      <dgm:spPr/>
      <dgm:t>
        <a:bodyPr/>
        <a:lstStyle/>
        <a:p>
          <a:r>
            <a:rPr lang="en-US" sz="1500" dirty="0"/>
            <a:t>Constructed a bar graph to compare how many samples were taken from each country</a:t>
          </a:r>
        </a:p>
      </dgm:t>
    </dgm:pt>
    <dgm:pt modelId="{16C10888-B00B-45C7-86D6-FFF07F4C3B5A}" type="parTrans" cxnId="{24248DFD-9241-46F3-B839-E4780EE8930A}">
      <dgm:prSet/>
      <dgm:spPr/>
      <dgm:t>
        <a:bodyPr/>
        <a:lstStyle/>
        <a:p>
          <a:endParaRPr lang="en-US" sz="1500"/>
        </a:p>
      </dgm:t>
    </dgm:pt>
    <dgm:pt modelId="{DA7ADC75-917F-464C-93D7-C9C09E44F7D3}" type="sibTrans" cxnId="{24248DFD-9241-46F3-B839-E4780EE8930A}">
      <dgm:prSet custT="1"/>
      <dgm:spPr/>
      <dgm:t>
        <a:bodyPr/>
        <a:lstStyle/>
        <a:p>
          <a:endParaRPr lang="en-US" sz="1500"/>
        </a:p>
      </dgm:t>
    </dgm:pt>
    <dgm:pt modelId="{6AE61256-40B1-41D2-B9B2-F696853607DD}">
      <dgm:prSet custT="1"/>
      <dgm:spPr/>
      <dgm:t>
        <a:bodyPr/>
        <a:lstStyle/>
        <a:p>
          <a:r>
            <a:rPr lang="en-US" sz="1500" dirty="0"/>
            <a:t>Created another bar graph to compare number of unique BINs in each country</a:t>
          </a:r>
        </a:p>
      </dgm:t>
    </dgm:pt>
    <dgm:pt modelId="{1F264BBE-F363-454A-8A8A-DAAA3824B942}" type="parTrans" cxnId="{0F3A0C26-F714-4594-8EC0-D79946F37778}">
      <dgm:prSet/>
      <dgm:spPr/>
      <dgm:t>
        <a:bodyPr/>
        <a:lstStyle/>
        <a:p>
          <a:endParaRPr lang="en-US" sz="1500"/>
        </a:p>
      </dgm:t>
    </dgm:pt>
    <dgm:pt modelId="{6B59DBD3-6C68-4216-AA4B-6555496CE9D4}" type="sibTrans" cxnId="{0F3A0C26-F714-4594-8EC0-D79946F37778}">
      <dgm:prSet custT="1"/>
      <dgm:spPr/>
      <dgm:t>
        <a:bodyPr/>
        <a:lstStyle/>
        <a:p>
          <a:endParaRPr lang="en-US" sz="1500"/>
        </a:p>
      </dgm:t>
    </dgm:pt>
    <dgm:pt modelId="{37ACA8F5-F2D1-4421-B502-29B1181127F7}">
      <dgm:prSet custT="1"/>
      <dgm:spPr/>
      <dgm:t>
        <a:bodyPr/>
        <a:lstStyle/>
        <a:p>
          <a:r>
            <a:rPr lang="en-US" sz="1500" dirty="0"/>
            <a:t>Plotted accumulation curve to estimate total species richness</a:t>
          </a:r>
        </a:p>
      </dgm:t>
    </dgm:pt>
    <dgm:pt modelId="{2FDFD924-9BBD-4B70-BBD1-81AA77C7F1D5}" type="parTrans" cxnId="{F2EC9077-43EC-4261-9D3F-B685DB416AB3}">
      <dgm:prSet/>
      <dgm:spPr/>
      <dgm:t>
        <a:bodyPr/>
        <a:lstStyle/>
        <a:p>
          <a:endParaRPr lang="en-US" sz="1500"/>
        </a:p>
      </dgm:t>
    </dgm:pt>
    <dgm:pt modelId="{0AB7C0F9-4054-4E76-A748-EDD34DAC4515}" type="sibTrans" cxnId="{F2EC9077-43EC-4261-9D3F-B685DB416AB3}">
      <dgm:prSet custT="1"/>
      <dgm:spPr/>
      <dgm:t>
        <a:bodyPr/>
        <a:lstStyle/>
        <a:p>
          <a:endParaRPr lang="en-US" sz="1500"/>
        </a:p>
      </dgm:t>
    </dgm:pt>
    <dgm:pt modelId="{357B94C1-5E19-498F-83B4-D60D9064AE90}">
      <dgm:prSet custT="1"/>
      <dgm:spPr/>
      <dgm:t>
        <a:bodyPr/>
        <a:lstStyle/>
        <a:p>
          <a:r>
            <a:rPr lang="en-US" sz="1500" dirty="0"/>
            <a:t>Used a Wilcoxon test to test a statistical difference between latitude and longitude of Canada and Panama</a:t>
          </a:r>
        </a:p>
      </dgm:t>
    </dgm:pt>
    <dgm:pt modelId="{D718F6EB-BDF1-4106-8380-40645A345331}" type="parTrans" cxnId="{49155C62-E4A6-4ECD-8175-F0A48197E4F9}">
      <dgm:prSet/>
      <dgm:spPr/>
      <dgm:t>
        <a:bodyPr/>
        <a:lstStyle/>
        <a:p>
          <a:endParaRPr lang="en-US" sz="1500"/>
        </a:p>
      </dgm:t>
    </dgm:pt>
    <dgm:pt modelId="{410A2BB0-591C-43B2-A423-58C32D1FFF08}" type="sibTrans" cxnId="{49155C62-E4A6-4ECD-8175-F0A48197E4F9}">
      <dgm:prSet custT="1"/>
      <dgm:spPr/>
      <dgm:t>
        <a:bodyPr/>
        <a:lstStyle/>
        <a:p>
          <a:endParaRPr lang="en-US" sz="1500"/>
        </a:p>
      </dgm:t>
    </dgm:pt>
    <dgm:pt modelId="{F151A624-2DEE-4024-9FB2-12875EF295A0}">
      <dgm:prSet custT="1"/>
      <dgm:spPr/>
      <dgm:t>
        <a:bodyPr/>
        <a:lstStyle/>
        <a:p>
          <a:r>
            <a:rPr lang="en-US" sz="1500" dirty="0"/>
            <a:t>Analyzed the results to compare BIN diversity between Panama and Canada</a:t>
          </a:r>
        </a:p>
      </dgm:t>
    </dgm:pt>
    <dgm:pt modelId="{0624343D-900B-4C0A-B5FF-57221BFAA234}" type="parTrans" cxnId="{548AF6E1-3782-4DE0-AFA7-8477A41A7C99}">
      <dgm:prSet/>
      <dgm:spPr/>
      <dgm:t>
        <a:bodyPr/>
        <a:lstStyle/>
        <a:p>
          <a:endParaRPr lang="en-CA" sz="1500"/>
        </a:p>
      </dgm:t>
    </dgm:pt>
    <dgm:pt modelId="{E50809FF-1D35-4A32-8007-CEE50B2BFD5B}" type="sibTrans" cxnId="{548AF6E1-3782-4DE0-AFA7-8477A41A7C99}">
      <dgm:prSet/>
      <dgm:spPr/>
      <dgm:t>
        <a:bodyPr/>
        <a:lstStyle/>
        <a:p>
          <a:endParaRPr lang="en-CA" sz="1500"/>
        </a:p>
      </dgm:t>
    </dgm:pt>
    <dgm:pt modelId="{47C6C6DB-9C01-48CE-91FA-7B1B9E17CE48}" type="pres">
      <dgm:prSet presAssocID="{9E1DC667-2716-4A58-B64E-3ACAC0BA108A}" presName="Name0" presStyleCnt="0">
        <dgm:presLayoutVars>
          <dgm:dir/>
          <dgm:resizeHandles val="exact"/>
        </dgm:presLayoutVars>
      </dgm:prSet>
      <dgm:spPr/>
    </dgm:pt>
    <dgm:pt modelId="{BE0FC0D0-4789-4074-8E83-ECDC9FA0A492}" type="pres">
      <dgm:prSet presAssocID="{A5EF3C76-0B0C-41C6-8F06-019385F1773B}" presName="node" presStyleLbl="node1" presStyleIdx="0" presStyleCnt="8">
        <dgm:presLayoutVars>
          <dgm:bulletEnabled val="1"/>
        </dgm:presLayoutVars>
      </dgm:prSet>
      <dgm:spPr/>
    </dgm:pt>
    <dgm:pt modelId="{25D0C193-B880-4093-A5DA-E7156A175F42}" type="pres">
      <dgm:prSet presAssocID="{996D585D-458C-403F-ABB5-C9B5810A1CA7}" presName="sibTrans" presStyleLbl="sibTrans1D1" presStyleIdx="0" presStyleCnt="7"/>
      <dgm:spPr/>
    </dgm:pt>
    <dgm:pt modelId="{02AEF357-B1CA-4935-8CD7-F2CAF9A094B7}" type="pres">
      <dgm:prSet presAssocID="{996D585D-458C-403F-ABB5-C9B5810A1CA7}" presName="connectorText" presStyleLbl="sibTrans1D1" presStyleIdx="0" presStyleCnt="7"/>
      <dgm:spPr/>
    </dgm:pt>
    <dgm:pt modelId="{4241229E-EEE3-419A-8E92-90B0C6B0CE63}" type="pres">
      <dgm:prSet presAssocID="{0E9E06EB-C872-4F7F-944D-91CDB554AC41}" presName="node" presStyleLbl="node1" presStyleIdx="1" presStyleCnt="8">
        <dgm:presLayoutVars>
          <dgm:bulletEnabled val="1"/>
        </dgm:presLayoutVars>
      </dgm:prSet>
      <dgm:spPr/>
    </dgm:pt>
    <dgm:pt modelId="{7D3F7BAB-D36E-438D-8040-F1E02FC425C6}" type="pres">
      <dgm:prSet presAssocID="{B62FB5AA-BCA8-4853-9310-D200CF141310}" presName="sibTrans" presStyleLbl="sibTrans1D1" presStyleIdx="1" presStyleCnt="7"/>
      <dgm:spPr/>
    </dgm:pt>
    <dgm:pt modelId="{B37A9490-FED2-47B7-9B0C-54346A2F3652}" type="pres">
      <dgm:prSet presAssocID="{B62FB5AA-BCA8-4853-9310-D200CF141310}" presName="connectorText" presStyleLbl="sibTrans1D1" presStyleIdx="1" presStyleCnt="7"/>
      <dgm:spPr/>
    </dgm:pt>
    <dgm:pt modelId="{BFB8D8BA-0961-4E8E-A6B8-7F4298B18899}" type="pres">
      <dgm:prSet presAssocID="{9951D3EA-C99A-442B-B293-1E7072F15AA4}" presName="node" presStyleLbl="node1" presStyleIdx="2" presStyleCnt="8">
        <dgm:presLayoutVars>
          <dgm:bulletEnabled val="1"/>
        </dgm:presLayoutVars>
      </dgm:prSet>
      <dgm:spPr/>
    </dgm:pt>
    <dgm:pt modelId="{1E8B866A-1FEB-4B7B-852B-1BB7C758F49B}" type="pres">
      <dgm:prSet presAssocID="{4EE229A8-B669-4765-B50B-C3471FFE8A0D}" presName="sibTrans" presStyleLbl="sibTrans1D1" presStyleIdx="2" presStyleCnt="7"/>
      <dgm:spPr/>
    </dgm:pt>
    <dgm:pt modelId="{195F31E2-F1AA-476F-9A5D-846316C01BF3}" type="pres">
      <dgm:prSet presAssocID="{4EE229A8-B669-4765-B50B-C3471FFE8A0D}" presName="connectorText" presStyleLbl="sibTrans1D1" presStyleIdx="2" presStyleCnt="7"/>
      <dgm:spPr/>
    </dgm:pt>
    <dgm:pt modelId="{0B9F9FAB-7F0A-4785-9804-7475992BFA5B}" type="pres">
      <dgm:prSet presAssocID="{F87612B8-C75C-42D7-8C8D-3E9C74E65F9F}" presName="node" presStyleLbl="node1" presStyleIdx="3" presStyleCnt="8">
        <dgm:presLayoutVars>
          <dgm:bulletEnabled val="1"/>
        </dgm:presLayoutVars>
      </dgm:prSet>
      <dgm:spPr/>
    </dgm:pt>
    <dgm:pt modelId="{A01DA783-F220-4B91-9C81-9428A1945976}" type="pres">
      <dgm:prSet presAssocID="{DA7ADC75-917F-464C-93D7-C9C09E44F7D3}" presName="sibTrans" presStyleLbl="sibTrans1D1" presStyleIdx="3" presStyleCnt="7"/>
      <dgm:spPr/>
    </dgm:pt>
    <dgm:pt modelId="{6B086AB3-0301-40B9-BF6D-0870B2A4D318}" type="pres">
      <dgm:prSet presAssocID="{DA7ADC75-917F-464C-93D7-C9C09E44F7D3}" presName="connectorText" presStyleLbl="sibTrans1D1" presStyleIdx="3" presStyleCnt="7"/>
      <dgm:spPr/>
    </dgm:pt>
    <dgm:pt modelId="{1AA47785-516D-402E-9688-06BFC59653FB}" type="pres">
      <dgm:prSet presAssocID="{6AE61256-40B1-41D2-B9B2-F696853607DD}" presName="node" presStyleLbl="node1" presStyleIdx="4" presStyleCnt="8">
        <dgm:presLayoutVars>
          <dgm:bulletEnabled val="1"/>
        </dgm:presLayoutVars>
      </dgm:prSet>
      <dgm:spPr/>
    </dgm:pt>
    <dgm:pt modelId="{14BE6C28-5263-4A75-B614-7D0EB9463539}" type="pres">
      <dgm:prSet presAssocID="{6B59DBD3-6C68-4216-AA4B-6555496CE9D4}" presName="sibTrans" presStyleLbl="sibTrans1D1" presStyleIdx="4" presStyleCnt="7"/>
      <dgm:spPr/>
    </dgm:pt>
    <dgm:pt modelId="{4D6357D5-1B38-4093-8C71-747EBC24D9B5}" type="pres">
      <dgm:prSet presAssocID="{6B59DBD3-6C68-4216-AA4B-6555496CE9D4}" presName="connectorText" presStyleLbl="sibTrans1D1" presStyleIdx="4" presStyleCnt="7"/>
      <dgm:spPr/>
    </dgm:pt>
    <dgm:pt modelId="{5F98F2C8-5E9F-4F81-825C-F5159EC168BE}" type="pres">
      <dgm:prSet presAssocID="{37ACA8F5-F2D1-4421-B502-29B1181127F7}" presName="node" presStyleLbl="node1" presStyleIdx="5" presStyleCnt="8">
        <dgm:presLayoutVars>
          <dgm:bulletEnabled val="1"/>
        </dgm:presLayoutVars>
      </dgm:prSet>
      <dgm:spPr/>
    </dgm:pt>
    <dgm:pt modelId="{503A299F-FDDF-4D44-A81C-93ED89546B79}" type="pres">
      <dgm:prSet presAssocID="{0AB7C0F9-4054-4E76-A748-EDD34DAC4515}" presName="sibTrans" presStyleLbl="sibTrans1D1" presStyleIdx="5" presStyleCnt="7"/>
      <dgm:spPr/>
    </dgm:pt>
    <dgm:pt modelId="{DDB38F16-EAA9-4D58-8F42-4741728B1EDB}" type="pres">
      <dgm:prSet presAssocID="{0AB7C0F9-4054-4E76-A748-EDD34DAC4515}" presName="connectorText" presStyleLbl="sibTrans1D1" presStyleIdx="5" presStyleCnt="7"/>
      <dgm:spPr/>
    </dgm:pt>
    <dgm:pt modelId="{7FDCEBB3-4FD7-4244-9ED0-EA30229D8924}" type="pres">
      <dgm:prSet presAssocID="{357B94C1-5E19-498F-83B4-D60D9064AE90}" presName="node" presStyleLbl="node1" presStyleIdx="6" presStyleCnt="8">
        <dgm:presLayoutVars>
          <dgm:bulletEnabled val="1"/>
        </dgm:presLayoutVars>
      </dgm:prSet>
      <dgm:spPr/>
    </dgm:pt>
    <dgm:pt modelId="{22EE89CE-6B1B-4B65-A58E-F8203C862CB2}" type="pres">
      <dgm:prSet presAssocID="{410A2BB0-591C-43B2-A423-58C32D1FFF08}" presName="sibTrans" presStyleLbl="sibTrans1D1" presStyleIdx="6" presStyleCnt="7"/>
      <dgm:spPr/>
    </dgm:pt>
    <dgm:pt modelId="{C9CF7300-929A-4DA0-9EE3-3C0A2CAC9062}" type="pres">
      <dgm:prSet presAssocID="{410A2BB0-591C-43B2-A423-58C32D1FFF08}" presName="connectorText" presStyleLbl="sibTrans1D1" presStyleIdx="6" presStyleCnt="7"/>
      <dgm:spPr/>
    </dgm:pt>
    <dgm:pt modelId="{339791DB-4409-488E-9A75-810A4D544257}" type="pres">
      <dgm:prSet presAssocID="{F151A624-2DEE-4024-9FB2-12875EF295A0}" presName="node" presStyleLbl="node1" presStyleIdx="7" presStyleCnt="8">
        <dgm:presLayoutVars>
          <dgm:bulletEnabled val="1"/>
        </dgm:presLayoutVars>
      </dgm:prSet>
      <dgm:spPr/>
    </dgm:pt>
  </dgm:ptLst>
  <dgm:cxnLst>
    <dgm:cxn modelId="{D509F102-5742-4C6C-AC97-A3DC39B6CEA4}" type="presOf" srcId="{37ACA8F5-F2D1-4421-B502-29B1181127F7}" destId="{5F98F2C8-5E9F-4F81-825C-F5159EC168BE}" srcOrd="0" destOrd="0" presId="urn:microsoft.com/office/officeart/2016/7/layout/RepeatingBendingProcessNew"/>
    <dgm:cxn modelId="{3C1CCD0B-D9A4-4490-BAAF-FB6291B39BC9}" type="presOf" srcId="{0AB7C0F9-4054-4E76-A748-EDD34DAC4515}" destId="{503A299F-FDDF-4D44-A81C-93ED89546B79}" srcOrd="0" destOrd="0" presId="urn:microsoft.com/office/officeart/2016/7/layout/RepeatingBendingProcessNew"/>
    <dgm:cxn modelId="{B494490C-FF9C-4EF6-B65D-C5FC3076DEF9}" type="presOf" srcId="{996D585D-458C-403F-ABB5-C9B5810A1CA7}" destId="{02AEF357-B1CA-4935-8CD7-F2CAF9A094B7}" srcOrd="1" destOrd="0" presId="urn:microsoft.com/office/officeart/2016/7/layout/RepeatingBendingProcessNew"/>
    <dgm:cxn modelId="{67731E19-E122-434A-80E9-F87679611FDA}" type="presOf" srcId="{0E9E06EB-C872-4F7F-944D-91CDB554AC41}" destId="{4241229E-EEE3-419A-8E92-90B0C6B0CE63}" srcOrd="0" destOrd="0" presId="urn:microsoft.com/office/officeart/2016/7/layout/RepeatingBendingProcessNew"/>
    <dgm:cxn modelId="{FD4F2C21-8345-435D-AAA6-FC9356C2E239}" type="presOf" srcId="{410A2BB0-591C-43B2-A423-58C32D1FFF08}" destId="{22EE89CE-6B1B-4B65-A58E-F8203C862CB2}" srcOrd="0" destOrd="0" presId="urn:microsoft.com/office/officeart/2016/7/layout/RepeatingBendingProcessNew"/>
    <dgm:cxn modelId="{0F3A0C26-F714-4594-8EC0-D79946F37778}" srcId="{9E1DC667-2716-4A58-B64E-3ACAC0BA108A}" destId="{6AE61256-40B1-41D2-B9B2-F696853607DD}" srcOrd="4" destOrd="0" parTransId="{1F264BBE-F363-454A-8A8A-DAAA3824B942}" sibTransId="{6B59DBD3-6C68-4216-AA4B-6555496CE9D4}"/>
    <dgm:cxn modelId="{F2D7FD36-A6CC-4F69-A671-85D8F529B0F4}" type="presOf" srcId="{357B94C1-5E19-498F-83B4-D60D9064AE90}" destId="{7FDCEBB3-4FD7-4244-9ED0-EA30229D8924}" srcOrd="0" destOrd="0" presId="urn:microsoft.com/office/officeart/2016/7/layout/RepeatingBendingProcessNew"/>
    <dgm:cxn modelId="{6A18B33B-9F2B-4798-A651-766BC78A2FC7}" type="presOf" srcId="{A5EF3C76-0B0C-41C6-8F06-019385F1773B}" destId="{BE0FC0D0-4789-4074-8E83-ECDC9FA0A492}" srcOrd="0" destOrd="0" presId="urn:microsoft.com/office/officeart/2016/7/layout/RepeatingBendingProcessNew"/>
    <dgm:cxn modelId="{49155C62-E4A6-4ECD-8175-F0A48197E4F9}" srcId="{9E1DC667-2716-4A58-B64E-3ACAC0BA108A}" destId="{357B94C1-5E19-498F-83B4-D60D9064AE90}" srcOrd="6" destOrd="0" parTransId="{D718F6EB-BDF1-4106-8380-40645A345331}" sibTransId="{410A2BB0-591C-43B2-A423-58C32D1FFF08}"/>
    <dgm:cxn modelId="{D495F565-4B80-4B05-9B94-9A25E8B49C32}" type="presOf" srcId="{9951D3EA-C99A-442B-B293-1E7072F15AA4}" destId="{BFB8D8BA-0961-4E8E-A6B8-7F4298B18899}" srcOrd="0" destOrd="0" presId="urn:microsoft.com/office/officeart/2016/7/layout/RepeatingBendingProcessNew"/>
    <dgm:cxn modelId="{32DE9D47-53FF-48BE-B839-F9B05554ECE2}" type="presOf" srcId="{9E1DC667-2716-4A58-B64E-3ACAC0BA108A}" destId="{47C6C6DB-9C01-48CE-91FA-7B1B9E17CE48}" srcOrd="0" destOrd="0" presId="urn:microsoft.com/office/officeart/2016/7/layout/RepeatingBendingProcessNew"/>
    <dgm:cxn modelId="{79310B56-CEB8-43FF-B84E-BE3AFB105E30}" srcId="{9E1DC667-2716-4A58-B64E-3ACAC0BA108A}" destId="{A5EF3C76-0B0C-41C6-8F06-019385F1773B}" srcOrd="0" destOrd="0" parTransId="{DD09974E-7364-4D4A-BACB-C39EC3147EC1}" sibTransId="{996D585D-458C-403F-ABB5-C9B5810A1CA7}"/>
    <dgm:cxn modelId="{F2EC9077-43EC-4261-9D3F-B685DB416AB3}" srcId="{9E1DC667-2716-4A58-B64E-3ACAC0BA108A}" destId="{37ACA8F5-F2D1-4421-B502-29B1181127F7}" srcOrd="5" destOrd="0" parTransId="{2FDFD924-9BBD-4B70-BBD1-81AA77C7F1D5}" sibTransId="{0AB7C0F9-4054-4E76-A748-EDD34DAC4515}"/>
    <dgm:cxn modelId="{7522F858-44E6-485C-A76A-7B71DF4117ED}" type="presOf" srcId="{410A2BB0-591C-43B2-A423-58C32D1FFF08}" destId="{C9CF7300-929A-4DA0-9EE3-3C0A2CAC9062}" srcOrd="1" destOrd="0" presId="urn:microsoft.com/office/officeart/2016/7/layout/RepeatingBendingProcessNew"/>
    <dgm:cxn modelId="{DADCA75A-1142-4CD5-A0B6-14CA409DED4D}" type="presOf" srcId="{996D585D-458C-403F-ABB5-C9B5810A1CA7}" destId="{25D0C193-B880-4093-A5DA-E7156A175F42}" srcOrd="0" destOrd="0" presId="urn:microsoft.com/office/officeart/2016/7/layout/RepeatingBendingProcessNew"/>
    <dgm:cxn modelId="{3FFBC67B-B5EC-4D39-B7B1-ECF095052313}" type="presOf" srcId="{DA7ADC75-917F-464C-93D7-C9C09E44F7D3}" destId="{A01DA783-F220-4B91-9C81-9428A1945976}" srcOrd="0" destOrd="0" presId="urn:microsoft.com/office/officeart/2016/7/layout/RepeatingBendingProcessNew"/>
    <dgm:cxn modelId="{2160C884-98E8-490D-9D8C-C03EAC6B7D82}" type="presOf" srcId="{6B59DBD3-6C68-4216-AA4B-6555496CE9D4}" destId="{4D6357D5-1B38-4093-8C71-747EBC24D9B5}" srcOrd="1" destOrd="0" presId="urn:microsoft.com/office/officeart/2016/7/layout/RepeatingBendingProcessNew"/>
    <dgm:cxn modelId="{5BA08F85-1D73-4396-8874-9EDAD1590385}" type="presOf" srcId="{4EE229A8-B669-4765-B50B-C3471FFE8A0D}" destId="{195F31E2-F1AA-476F-9A5D-846316C01BF3}" srcOrd="1" destOrd="0" presId="urn:microsoft.com/office/officeart/2016/7/layout/RepeatingBendingProcessNew"/>
    <dgm:cxn modelId="{72E37594-065B-4D05-922E-4C194933AAB4}" srcId="{9E1DC667-2716-4A58-B64E-3ACAC0BA108A}" destId="{0E9E06EB-C872-4F7F-944D-91CDB554AC41}" srcOrd="1" destOrd="0" parTransId="{AF4B4FF0-C697-45AC-A3A0-07010FF87987}" sibTransId="{B62FB5AA-BCA8-4853-9310-D200CF141310}"/>
    <dgm:cxn modelId="{0D0EDD9A-B03A-4B76-AC00-5AFE43CB6671}" type="presOf" srcId="{F151A624-2DEE-4024-9FB2-12875EF295A0}" destId="{339791DB-4409-488E-9A75-810A4D544257}" srcOrd="0" destOrd="0" presId="urn:microsoft.com/office/officeart/2016/7/layout/RepeatingBendingProcessNew"/>
    <dgm:cxn modelId="{3871E0A3-6E93-41D7-BFAF-5DAF9D1318F3}" type="presOf" srcId="{6B59DBD3-6C68-4216-AA4B-6555496CE9D4}" destId="{14BE6C28-5263-4A75-B614-7D0EB9463539}" srcOrd="0" destOrd="0" presId="urn:microsoft.com/office/officeart/2016/7/layout/RepeatingBendingProcessNew"/>
    <dgm:cxn modelId="{6423A4AC-F68A-43F5-9063-F4B9CE2CCEF6}" type="presOf" srcId="{6AE61256-40B1-41D2-B9B2-F696853607DD}" destId="{1AA47785-516D-402E-9688-06BFC59653FB}" srcOrd="0" destOrd="0" presId="urn:microsoft.com/office/officeart/2016/7/layout/RepeatingBendingProcessNew"/>
    <dgm:cxn modelId="{F379C5C0-4966-4A9B-996C-76220DA103E8}" type="presOf" srcId="{0AB7C0F9-4054-4E76-A748-EDD34DAC4515}" destId="{DDB38F16-EAA9-4D58-8F42-4741728B1EDB}" srcOrd="1" destOrd="0" presId="urn:microsoft.com/office/officeart/2016/7/layout/RepeatingBendingProcessNew"/>
    <dgm:cxn modelId="{6906A5DF-0A9E-408E-81FF-34746AF52EDE}" type="presOf" srcId="{F87612B8-C75C-42D7-8C8D-3E9C74E65F9F}" destId="{0B9F9FAB-7F0A-4785-9804-7475992BFA5B}" srcOrd="0" destOrd="0" presId="urn:microsoft.com/office/officeart/2016/7/layout/RepeatingBendingProcessNew"/>
    <dgm:cxn modelId="{2D1EC5E0-9F7C-4AF0-A257-3538A026123D}" type="presOf" srcId="{B62FB5AA-BCA8-4853-9310-D200CF141310}" destId="{7D3F7BAB-D36E-438D-8040-F1E02FC425C6}" srcOrd="0" destOrd="0" presId="urn:microsoft.com/office/officeart/2016/7/layout/RepeatingBendingProcessNew"/>
    <dgm:cxn modelId="{548AF6E1-3782-4DE0-AFA7-8477A41A7C99}" srcId="{9E1DC667-2716-4A58-B64E-3ACAC0BA108A}" destId="{F151A624-2DEE-4024-9FB2-12875EF295A0}" srcOrd="7" destOrd="0" parTransId="{0624343D-900B-4C0A-B5FF-57221BFAA234}" sibTransId="{E50809FF-1D35-4A32-8007-CEE50B2BFD5B}"/>
    <dgm:cxn modelId="{83B825F7-E8C5-4A06-B425-29E8086792EF}" type="presOf" srcId="{4EE229A8-B669-4765-B50B-C3471FFE8A0D}" destId="{1E8B866A-1FEB-4B7B-852B-1BB7C758F49B}" srcOrd="0" destOrd="0" presId="urn:microsoft.com/office/officeart/2016/7/layout/RepeatingBendingProcessNew"/>
    <dgm:cxn modelId="{FCDC5FF9-1939-457A-8F2D-A9ABA47A7A87}" type="presOf" srcId="{DA7ADC75-917F-464C-93D7-C9C09E44F7D3}" destId="{6B086AB3-0301-40B9-BF6D-0870B2A4D318}" srcOrd="1" destOrd="0" presId="urn:microsoft.com/office/officeart/2016/7/layout/RepeatingBendingProcessNew"/>
    <dgm:cxn modelId="{F09E63FC-ECC1-4041-AC6E-B59B18467173}" type="presOf" srcId="{B62FB5AA-BCA8-4853-9310-D200CF141310}" destId="{B37A9490-FED2-47B7-9B0C-54346A2F3652}" srcOrd="1" destOrd="0" presId="urn:microsoft.com/office/officeart/2016/7/layout/RepeatingBendingProcessNew"/>
    <dgm:cxn modelId="{24248DFD-9241-46F3-B839-E4780EE8930A}" srcId="{9E1DC667-2716-4A58-B64E-3ACAC0BA108A}" destId="{F87612B8-C75C-42D7-8C8D-3E9C74E65F9F}" srcOrd="3" destOrd="0" parTransId="{16C10888-B00B-45C7-86D6-FFF07F4C3B5A}" sibTransId="{DA7ADC75-917F-464C-93D7-C9C09E44F7D3}"/>
    <dgm:cxn modelId="{583A98FE-0F1E-4EA3-87B0-AA5067FA2D4B}" srcId="{9E1DC667-2716-4A58-B64E-3ACAC0BA108A}" destId="{9951D3EA-C99A-442B-B293-1E7072F15AA4}" srcOrd="2" destOrd="0" parTransId="{9B6160CE-2627-4062-94B2-85BE9319B0C9}" sibTransId="{4EE229A8-B669-4765-B50B-C3471FFE8A0D}"/>
    <dgm:cxn modelId="{8F57E6AF-73D7-41FC-A1FF-9F4436F27F9D}" type="presParOf" srcId="{47C6C6DB-9C01-48CE-91FA-7B1B9E17CE48}" destId="{BE0FC0D0-4789-4074-8E83-ECDC9FA0A492}" srcOrd="0" destOrd="0" presId="urn:microsoft.com/office/officeart/2016/7/layout/RepeatingBendingProcessNew"/>
    <dgm:cxn modelId="{E160293D-55F1-4F3C-A5BA-A39C9670A139}" type="presParOf" srcId="{47C6C6DB-9C01-48CE-91FA-7B1B9E17CE48}" destId="{25D0C193-B880-4093-A5DA-E7156A175F42}" srcOrd="1" destOrd="0" presId="urn:microsoft.com/office/officeart/2016/7/layout/RepeatingBendingProcessNew"/>
    <dgm:cxn modelId="{4E6A64DB-3DDF-4031-A5FB-EA8F4AE9802A}" type="presParOf" srcId="{25D0C193-B880-4093-A5DA-E7156A175F42}" destId="{02AEF357-B1CA-4935-8CD7-F2CAF9A094B7}" srcOrd="0" destOrd="0" presId="urn:microsoft.com/office/officeart/2016/7/layout/RepeatingBendingProcessNew"/>
    <dgm:cxn modelId="{02A4F6B9-F071-471B-AC2A-8E6D991F7A21}" type="presParOf" srcId="{47C6C6DB-9C01-48CE-91FA-7B1B9E17CE48}" destId="{4241229E-EEE3-419A-8E92-90B0C6B0CE63}" srcOrd="2" destOrd="0" presId="urn:microsoft.com/office/officeart/2016/7/layout/RepeatingBendingProcessNew"/>
    <dgm:cxn modelId="{F5D4A294-0CB5-4535-899B-EF20CCD1E26F}" type="presParOf" srcId="{47C6C6DB-9C01-48CE-91FA-7B1B9E17CE48}" destId="{7D3F7BAB-D36E-438D-8040-F1E02FC425C6}" srcOrd="3" destOrd="0" presId="urn:microsoft.com/office/officeart/2016/7/layout/RepeatingBendingProcessNew"/>
    <dgm:cxn modelId="{B57FD53C-D084-4244-965D-4E8E4DB3C28A}" type="presParOf" srcId="{7D3F7BAB-D36E-438D-8040-F1E02FC425C6}" destId="{B37A9490-FED2-47B7-9B0C-54346A2F3652}" srcOrd="0" destOrd="0" presId="urn:microsoft.com/office/officeart/2016/7/layout/RepeatingBendingProcessNew"/>
    <dgm:cxn modelId="{4841A5C1-923A-4220-AE81-0A67E25535A0}" type="presParOf" srcId="{47C6C6DB-9C01-48CE-91FA-7B1B9E17CE48}" destId="{BFB8D8BA-0961-4E8E-A6B8-7F4298B18899}" srcOrd="4" destOrd="0" presId="urn:microsoft.com/office/officeart/2016/7/layout/RepeatingBendingProcessNew"/>
    <dgm:cxn modelId="{FEA79D41-51AF-47D3-A4BB-94FF79BACD74}" type="presParOf" srcId="{47C6C6DB-9C01-48CE-91FA-7B1B9E17CE48}" destId="{1E8B866A-1FEB-4B7B-852B-1BB7C758F49B}" srcOrd="5" destOrd="0" presId="urn:microsoft.com/office/officeart/2016/7/layout/RepeatingBendingProcessNew"/>
    <dgm:cxn modelId="{33016E42-AA2E-4380-A0D2-3B345240DC2A}" type="presParOf" srcId="{1E8B866A-1FEB-4B7B-852B-1BB7C758F49B}" destId="{195F31E2-F1AA-476F-9A5D-846316C01BF3}" srcOrd="0" destOrd="0" presId="urn:microsoft.com/office/officeart/2016/7/layout/RepeatingBendingProcessNew"/>
    <dgm:cxn modelId="{C9F8D15A-F2D8-4366-AD7B-CEFD3269072B}" type="presParOf" srcId="{47C6C6DB-9C01-48CE-91FA-7B1B9E17CE48}" destId="{0B9F9FAB-7F0A-4785-9804-7475992BFA5B}" srcOrd="6" destOrd="0" presId="urn:microsoft.com/office/officeart/2016/7/layout/RepeatingBendingProcessNew"/>
    <dgm:cxn modelId="{B2902107-47D5-4D00-A518-8F38ABDC0343}" type="presParOf" srcId="{47C6C6DB-9C01-48CE-91FA-7B1B9E17CE48}" destId="{A01DA783-F220-4B91-9C81-9428A1945976}" srcOrd="7" destOrd="0" presId="urn:microsoft.com/office/officeart/2016/7/layout/RepeatingBendingProcessNew"/>
    <dgm:cxn modelId="{762FD5F0-66C0-4629-B224-B48F4D6FCC8B}" type="presParOf" srcId="{A01DA783-F220-4B91-9C81-9428A1945976}" destId="{6B086AB3-0301-40B9-BF6D-0870B2A4D318}" srcOrd="0" destOrd="0" presId="urn:microsoft.com/office/officeart/2016/7/layout/RepeatingBendingProcessNew"/>
    <dgm:cxn modelId="{09E98465-7703-4017-A178-CFBB57FB0908}" type="presParOf" srcId="{47C6C6DB-9C01-48CE-91FA-7B1B9E17CE48}" destId="{1AA47785-516D-402E-9688-06BFC59653FB}" srcOrd="8" destOrd="0" presId="urn:microsoft.com/office/officeart/2016/7/layout/RepeatingBendingProcessNew"/>
    <dgm:cxn modelId="{B3501187-8B9C-46B5-8DCA-EBAC5F953002}" type="presParOf" srcId="{47C6C6DB-9C01-48CE-91FA-7B1B9E17CE48}" destId="{14BE6C28-5263-4A75-B614-7D0EB9463539}" srcOrd="9" destOrd="0" presId="urn:microsoft.com/office/officeart/2016/7/layout/RepeatingBendingProcessNew"/>
    <dgm:cxn modelId="{4AA840F0-4305-4541-8479-6AB3404F4550}" type="presParOf" srcId="{14BE6C28-5263-4A75-B614-7D0EB9463539}" destId="{4D6357D5-1B38-4093-8C71-747EBC24D9B5}" srcOrd="0" destOrd="0" presId="urn:microsoft.com/office/officeart/2016/7/layout/RepeatingBendingProcessNew"/>
    <dgm:cxn modelId="{A75C535F-12EA-49C7-870B-1B86DE9F5CEE}" type="presParOf" srcId="{47C6C6DB-9C01-48CE-91FA-7B1B9E17CE48}" destId="{5F98F2C8-5E9F-4F81-825C-F5159EC168BE}" srcOrd="10" destOrd="0" presId="urn:microsoft.com/office/officeart/2016/7/layout/RepeatingBendingProcessNew"/>
    <dgm:cxn modelId="{853E45B6-05A4-4CA9-90D8-27A87B5041C2}" type="presParOf" srcId="{47C6C6DB-9C01-48CE-91FA-7B1B9E17CE48}" destId="{503A299F-FDDF-4D44-A81C-93ED89546B79}" srcOrd="11" destOrd="0" presId="urn:microsoft.com/office/officeart/2016/7/layout/RepeatingBendingProcessNew"/>
    <dgm:cxn modelId="{B36C054A-D11E-4281-9FFA-D5FFF5470D01}" type="presParOf" srcId="{503A299F-FDDF-4D44-A81C-93ED89546B79}" destId="{DDB38F16-EAA9-4D58-8F42-4741728B1EDB}" srcOrd="0" destOrd="0" presId="urn:microsoft.com/office/officeart/2016/7/layout/RepeatingBendingProcessNew"/>
    <dgm:cxn modelId="{703A0C68-B09B-4AC0-B959-171D55332780}" type="presParOf" srcId="{47C6C6DB-9C01-48CE-91FA-7B1B9E17CE48}" destId="{7FDCEBB3-4FD7-4244-9ED0-EA30229D8924}" srcOrd="12" destOrd="0" presId="urn:microsoft.com/office/officeart/2016/7/layout/RepeatingBendingProcessNew"/>
    <dgm:cxn modelId="{8D59F45A-7F96-411C-BB1F-3BF387579F84}" type="presParOf" srcId="{47C6C6DB-9C01-48CE-91FA-7B1B9E17CE48}" destId="{22EE89CE-6B1B-4B65-A58E-F8203C862CB2}" srcOrd="13" destOrd="0" presId="urn:microsoft.com/office/officeart/2016/7/layout/RepeatingBendingProcessNew"/>
    <dgm:cxn modelId="{E2CE9351-7F66-4526-A6CC-34920EC67BDB}" type="presParOf" srcId="{22EE89CE-6B1B-4B65-A58E-F8203C862CB2}" destId="{C9CF7300-929A-4DA0-9EE3-3C0A2CAC9062}" srcOrd="0" destOrd="0" presId="urn:microsoft.com/office/officeart/2016/7/layout/RepeatingBendingProcessNew"/>
    <dgm:cxn modelId="{654F8DE0-FA18-4EBA-B7E7-94B02CB22A0A}" type="presParOf" srcId="{47C6C6DB-9C01-48CE-91FA-7B1B9E17CE48}" destId="{339791DB-4409-488E-9A75-810A4D544257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0C193-B880-4093-A5DA-E7156A175F42}">
      <dsp:nvSpPr>
        <dsp:cNvPr id="0" name=""/>
        <dsp:cNvSpPr/>
      </dsp:nvSpPr>
      <dsp:spPr>
        <a:xfrm>
          <a:off x="2167700" y="1388054"/>
          <a:ext cx="4670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06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88790" y="1431286"/>
        <a:ext cx="24883" cy="4976"/>
      </dsp:txXfrm>
    </dsp:sp>
    <dsp:sp modelId="{BE0FC0D0-4789-4074-8E83-ECDC9FA0A492}">
      <dsp:nvSpPr>
        <dsp:cNvPr id="0" name=""/>
        <dsp:cNvSpPr/>
      </dsp:nvSpPr>
      <dsp:spPr>
        <a:xfrm>
          <a:off x="5748" y="784649"/>
          <a:ext cx="2163752" cy="12982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There are around 280 Phoronida records from BOLD</a:t>
          </a:r>
        </a:p>
      </dsp:txBody>
      <dsp:txXfrm>
        <a:off x="5748" y="784649"/>
        <a:ext cx="2163752" cy="1298251"/>
      </dsp:txXfrm>
    </dsp:sp>
    <dsp:sp modelId="{7D3F7BAB-D36E-438D-8040-F1E02FC425C6}">
      <dsp:nvSpPr>
        <dsp:cNvPr id="0" name=""/>
        <dsp:cNvSpPr/>
      </dsp:nvSpPr>
      <dsp:spPr>
        <a:xfrm>
          <a:off x="4829116" y="1388054"/>
          <a:ext cx="4670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063" y="45720"/>
              </a:lnTo>
            </a:path>
          </a:pathLst>
        </a:custGeom>
        <a:noFill/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050206" y="1431286"/>
        <a:ext cx="24883" cy="4976"/>
      </dsp:txXfrm>
    </dsp:sp>
    <dsp:sp modelId="{4241229E-EEE3-419A-8E92-90B0C6B0CE63}">
      <dsp:nvSpPr>
        <dsp:cNvPr id="0" name=""/>
        <dsp:cNvSpPr/>
      </dsp:nvSpPr>
      <dsp:spPr>
        <a:xfrm>
          <a:off x="2667163" y="784649"/>
          <a:ext cx="2163752" cy="1298251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Downloaded data and isolated columns that were of use for the analysis</a:t>
          </a:r>
        </a:p>
      </dsp:txBody>
      <dsp:txXfrm>
        <a:off x="2667163" y="784649"/>
        <a:ext cx="2163752" cy="1298251"/>
      </dsp:txXfrm>
    </dsp:sp>
    <dsp:sp modelId="{1E8B866A-1FEB-4B7B-852B-1BB7C758F49B}">
      <dsp:nvSpPr>
        <dsp:cNvPr id="0" name=""/>
        <dsp:cNvSpPr/>
      </dsp:nvSpPr>
      <dsp:spPr>
        <a:xfrm>
          <a:off x="1087624" y="2081100"/>
          <a:ext cx="5322831" cy="467063"/>
        </a:xfrm>
        <a:custGeom>
          <a:avLst/>
          <a:gdLst/>
          <a:ahLst/>
          <a:cxnLst/>
          <a:rect l="0" t="0" r="0" b="0"/>
          <a:pathLst>
            <a:path>
              <a:moveTo>
                <a:pt x="5322831" y="0"/>
              </a:moveTo>
              <a:lnTo>
                <a:pt x="5322831" y="250631"/>
              </a:lnTo>
              <a:lnTo>
                <a:pt x="0" y="250631"/>
              </a:lnTo>
              <a:lnTo>
                <a:pt x="0" y="467063"/>
              </a:lnTo>
            </a:path>
          </a:pathLst>
        </a:custGeom>
        <a:noFill/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15388" y="2312143"/>
        <a:ext cx="267302" cy="4976"/>
      </dsp:txXfrm>
    </dsp:sp>
    <dsp:sp modelId="{BFB8D8BA-0961-4E8E-A6B8-7F4298B18899}">
      <dsp:nvSpPr>
        <dsp:cNvPr id="0" name=""/>
        <dsp:cNvSpPr/>
      </dsp:nvSpPr>
      <dsp:spPr>
        <a:xfrm>
          <a:off x="5328579" y="784649"/>
          <a:ext cx="2163752" cy="1298251"/>
        </a:xfrm>
        <a:prstGeom prst="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Sorted between unique species and BINs from Panama vs Canada</a:t>
          </a:r>
        </a:p>
      </dsp:txBody>
      <dsp:txXfrm>
        <a:off x="5328579" y="784649"/>
        <a:ext cx="2163752" cy="1298251"/>
      </dsp:txXfrm>
    </dsp:sp>
    <dsp:sp modelId="{A01DA783-F220-4B91-9C81-9428A1945976}">
      <dsp:nvSpPr>
        <dsp:cNvPr id="0" name=""/>
        <dsp:cNvSpPr/>
      </dsp:nvSpPr>
      <dsp:spPr>
        <a:xfrm>
          <a:off x="2167700" y="3183969"/>
          <a:ext cx="4670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063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88790" y="3227201"/>
        <a:ext cx="24883" cy="4976"/>
      </dsp:txXfrm>
    </dsp:sp>
    <dsp:sp modelId="{0B9F9FAB-7F0A-4785-9804-7475992BFA5B}">
      <dsp:nvSpPr>
        <dsp:cNvPr id="0" name=""/>
        <dsp:cNvSpPr/>
      </dsp:nvSpPr>
      <dsp:spPr>
        <a:xfrm>
          <a:off x="5748" y="2580563"/>
          <a:ext cx="2163752" cy="1298251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Constructed a bar graph to compare how many samples were taken from each country</a:t>
          </a:r>
        </a:p>
      </dsp:txBody>
      <dsp:txXfrm>
        <a:off x="5748" y="2580563"/>
        <a:ext cx="2163752" cy="1298251"/>
      </dsp:txXfrm>
    </dsp:sp>
    <dsp:sp modelId="{14BE6C28-5263-4A75-B614-7D0EB9463539}">
      <dsp:nvSpPr>
        <dsp:cNvPr id="0" name=""/>
        <dsp:cNvSpPr/>
      </dsp:nvSpPr>
      <dsp:spPr>
        <a:xfrm>
          <a:off x="4829116" y="3183969"/>
          <a:ext cx="4670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063" y="45720"/>
              </a:lnTo>
            </a:path>
          </a:pathLst>
        </a:custGeom>
        <a:noFill/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050206" y="3227201"/>
        <a:ext cx="24883" cy="4976"/>
      </dsp:txXfrm>
    </dsp:sp>
    <dsp:sp modelId="{1AA47785-516D-402E-9688-06BFC59653FB}">
      <dsp:nvSpPr>
        <dsp:cNvPr id="0" name=""/>
        <dsp:cNvSpPr/>
      </dsp:nvSpPr>
      <dsp:spPr>
        <a:xfrm>
          <a:off x="2667163" y="2580563"/>
          <a:ext cx="2163752" cy="1298251"/>
        </a:xfrm>
        <a:prstGeom prst="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Created another bar graph to compare number of unique BINs in each country</a:t>
          </a:r>
        </a:p>
      </dsp:txBody>
      <dsp:txXfrm>
        <a:off x="2667163" y="2580563"/>
        <a:ext cx="2163752" cy="1298251"/>
      </dsp:txXfrm>
    </dsp:sp>
    <dsp:sp modelId="{503A299F-FDDF-4D44-A81C-93ED89546B79}">
      <dsp:nvSpPr>
        <dsp:cNvPr id="0" name=""/>
        <dsp:cNvSpPr/>
      </dsp:nvSpPr>
      <dsp:spPr>
        <a:xfrm>
          <a:off x="1087624" y="3877015"/>
          <a:ext cx="5322831" cy="467063"/>
        </a:xfrm>
        <a:custGeom>
          <a:avLst/>
          <a:gdLst/>
          <a:ahLst/>
          <a:cxnLst/>
          <a:rect l="0" t="0" r="0" b="0"/>
          <a:pathLst>
            <a:path>
              <a:moveTo>
                <a:pt x="5322831" y="0"/>
              </a:moveTo>
              <a:lnTo>
                <a:pt x="5322831" y="250631"/>
              </a:lnTo>
              <a:lnTo>
                <a:pt x="0" y="250631"/>
              </a:lnTo>
              <a:lnTo>
                <a:pt x="0" y="467063"/>
              </a:lnTo>
            </a:path>
          </a:pathLst>
        </a:custGeom>
        <a:noFill/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15388" y="4108058"/>
        <a:ext cx="267302" cy="4976"/>
      </dsp:txXfrm>
    </dsp:sp>
    <dsp:sp modelId="{5F98F2C8-5E9F-4F81-825C-F5159EC168BE}">
      <dsp:nvSpPr>
        <dsp:cNvPr id="0" name=""/>
        <dsp:cNvSpPr/>
      </dsp:nvSpPr>
      <dsp:spPr>
        <a:xfrm>
          <a:off x="5328579" y="2580563"/>
          <a:ext cx="2163752" cy="1298251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Plotted accumulation curve to estimate total species richness</a:t>
          </a:r>
        </a:p>
      </dsp:txBody>
      <dsp:txXfrm>
        <a:off x="5328579" y="2580563"/>
        <a:ext cx="2163752" cy="1298251"/>
      </dsp:txXfrm>
    </dsp:sp>
    <dsp:sp modelId="{22EE89CE-6B1B-4B65-A58E-F8203C862CB2}">
      <dsp:nvSpPr>
        <dsp:cNvPr id="0" name=""/>
        <dsp:cNvSpPr/>
      </dsp:nvSpPr>
      <dsp:spPr>
        <a:xfrm>
          <a:off x="2167700" y="4979884"/>
          <a:ext cx="4670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063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88790" y="5023115"/>
        <a:ext cx="24883" cy="4976"/>
      </dsp:txXfrm>
    </dsp:sp>
    <dsp:sp modelId="{7FDCEBB3-4FD7-4244-9ED0-EA30229D8924}">
      <dsp:nvSpPr>
        <dsp:cNvPr id="0" name=""/>
        <dsp:cNvSpPr/>
      </dsp:nvSpPr>
      <dsp:spPr>
        <a:xfrm>
          <a:off x="5748" y="4376478"/>
          <a:ext cx="2163752" cy="1298251"/>
        </a:xfrm>
        <a:prstGeom prst="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Used a Wilcoxon test to test a statistical difference between latitude and longitude of Canada and Panama</a:t>
          </a:r>
        </a:p>
      </dsp:txBody>
      <dsp:txXfrm>
        <a:off x="5748" y="4376478"/>
        <a:ext cx="2163752" cy="1298251"/>
      </dsp:txXfrm>
    </dsp:sp>
    <dsp:sp modelId="{339791DB-4409-488E-9A75-810A4D544257}">
      <dsp:nvSpPr>
        <dsp:cNvPr id="0" name=""/>
        <dsp:cNvSpPr/>
      </dsp:nvSpPr>
      <dsp:spPr>
        <a:xfrm>
          <a:off x="2667163" y="4376478"/>
          <a:ext cx="2163752" cy="1298251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26" tIns="111293" rIns="106026" bIns="11129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Analyzed the results to compare BIN diversity between Panama and Canada</a:t>
          </a:r>
        </a:p>
      </dsp:txBody>
      <dsp:txXfrm>
        <a:off x="2667163" y="4376478"/>
        <a:ext cx="2163752" cy="1298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7ED68-AEC4-4052-862A-9E3C62867CB7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7E831-0E13-420D-BBB7-8BFDA1136A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42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6F2A-1DD3-8852-809D-13ECF7C3C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B576E-DD03-144C-B850-7C265B5E7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FCE3-90FC-7167-81A2-6CE72185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2CC4-BC26-7C0F-DEF7-DEE51EF4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7A5E3-E3F5-0CD3-5450-0E0FBBB6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60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AA5C-76D7-F28B-8A86-D34F12E2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31D8-0647-5FA1-B39A-33BE2004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0E72C-F368-3D02-6A8C-A8E184A7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A4C87-D0A4-C3C6-C745-BE7E6C29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2BEA-5D63-A59E-4557-3176BE46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415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FF7F-EA18-DB6D-CA4D-3E399620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1CAE7-C95F-0F8D-4E61-453A4AA76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75B9E-99C6-C82C-6C98-A8510E67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5859-265A-0556-EB67-CDA7CE82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1394B-B74F-FD47-4F2D-3B0466FC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220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01B1-D924-66F4-DF60-C132E74F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0963-4220-9AA4-069E-7471D4F4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8F138-367B-5039-F11A-17B1F777B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D71A9-16F7-CF1C-C8FB-1615C52C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2ACD0-A1AE-B97C-C6BE-5A36B9E6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36016-496E-1B15-1490-9D873A7E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71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1C83-CDF4-06E7-74A7-AFE82F88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D7954-F523-0047-972D-CC312581A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D625B-334B-BD7B-2605-A4B298BBB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0597D-17CC-7E0F-D078-E69875BDD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3A2D5-2F83-1B4E-AA14-EEC421A07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B8D2F-0F0A-BAF1-AD55-A3344855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37D00-9945-50D7-390B-8F5DC40BC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DFA1D5-93AA-285E-82EA-140C09CC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099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B1A2-B5FB-58EE-CAE1-FF9FB761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EAFEB-021A-A9D5-85AE-4AB2C68F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21EB3-8269-9C21-0EA1-A9458289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C0873-49DE-16FF-A892-2D7FC3AC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670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5F323-3583-7A8E-4C13-D05404E0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81F31-C351-27B2-5FC0-1139B431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2919-3D83-1C1B-C7A3-640B65BE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27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A6E3-CB81-619E-3D22-CC4716A7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77A4-92E3-FB4F-B0F5-48F802557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9887B-B7ED-4CD6-D620-53EBC5615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13F20-FA49-0235-4320-FE6600EE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6737F-8F6C-35C7-E964-31F507ED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10C53-BE0D-C59F-AFDA-8676E4B1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607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5263-8167-0675-A4B6-59B3F165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F3813-6EA5-85D2-B6D7-608A6118E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0AB1C-952B-811D-587C-FEE279BEE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E0211-1A1A-6C8E-A22D-D375DD98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1D81A-BDCB-E811-9785-84EE05BE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045EC-97C1-8440-9494-753439D8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20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BA6E-2797-DD09-54C5-27701EF1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4DE7-ABDC-068C-9C24-E74125B15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DA9E-7644-25CF-F85D-2385C9F9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4239-85C5-74D6-1CD5-836F10A8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FC8D5-0095-9B33-60F4-C1DC51CD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262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58B1A-AAEC-907B-1FBC-91F7183C5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D76D5-A908-D10F-04C9-C69AEFBF8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BBE15-2E72-2E5C-9828-CE9E3A43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872F5-8D98-5F2C-5F4C-2086E19C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1EF47-C1E4-1724-1E12-DB2A65D3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368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CC64A-1222-B7AA-2F9C-8C12E69C5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D8B0B-D658-CEB2-B452-080AEAAEF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DD04-576C-9A33-A112-34537833A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AF88D-3E57-4D23-B9F1-F00415764C00}" type="datetimeFigureOut">
              <a:rPr lang="en-CA" smtClean="0"/>
              <a:t>2025-10-12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2717-E3D5-F222-9FC6-0140D95CE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FD89E-95B1-8327-B46A-9D3C1D4A6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F013C-E2B2-4340-90D2-9430C27147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1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ivb.12242" TargetMode="External"/><Relationship Id="rId2" Type="http://schemas.openxmlformats.org/officeDocument/2006/relationships/hyperlink" Target="https://doi.org/10.1111/ede.1243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05" name="Arc 4104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D60EC-875D-60C4-F3F6-3E8227316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510" y="1495740"/>
            <a:ext cx="6001127" cy="3214724"/>
          </a:xfrm>
        </p:spPr>
        <p:txBody>
          <a:bodyPr anchor="b">
            <a:normAutofit/>
          </a:bodyPr>
          <a:lstStyle/>
          <a:p>
            <a:pPr algn="l"/>
            <a:r>
              <a:rPr lang="en-US" sz="5100" dirty="0"/>
              <a:t>BIN Diversity in Phoronida (Horseshoe Worms): Canada vs Panama</a:t>
            </a:r>
            <a:endParaRPr lang="en-CA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1ADDC-CCD0-11F0-1604-B53F25FB7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4802538"/>
            <a:ext cx="5491090" cy="1411993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/>
              <a:t>Sharon Tsukernik</a:t>
            </a:r>
            <a:endParaRPr lang="en-CA" sz="2800" dirty="0"/>
          </a:p>
        </p:txBody>
      </p:sp>
      <p:pic>
        <p:nvPicPr>
          <p:cNvPr id="4098" name="Picture 2" descr="A transparent jellyfish with a red dot&#10;&#10;AI-generated content may be incorrect.">
            <a:extLst>
              <a:ext uri="{FF2B5EF4-FFF2-40B4-BE49-F238E27FC236}">
                <a16:creationId xmlns:a16="http://schemas.microsoft.com/office/drawing/2014/main" id="{2DB26290-3C81-6995-FDB1-362C554C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2267" y="732730"/>
            <a:ext cx="4704747" cy="490077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79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C25A4-255C-F718-2351-CC717C9E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22A8B-82AF-00C6-21DB-1FBA7BD4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32" y="1198418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Introduction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5863C-5608-8603-9912-426E54A49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390" y="2666241"/>
            <a:ext cx="7184664" cy="313025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140 samples taken from Panama</a:t>
            </a:r>
          </a:p>
          <a:p>
            <a:r>
              <a:rPr lang="en-US" sz="2400" dirty="0"/>
              <a:t>15 samples taken from Canada</a:t>
            </a:r>
          </a:p>
          <a:p>
            <a:r>
              <a:rPr lang="en-US" sz="2400" dirty="0"/>
              <a:t>Want to explore the difference in species diversity between the two countries</a:t>
            </a:r>
          </a:p>
          <a:p>
            <a:pPr lvl="1"/>
            <a:r>
              <a:rPr lang="en-US" sz="2000" dirty="0"/>
              <a:t>Comparing unique BINs</a:t>
            </a:r>
          </a:p>
          <a:p>
            <a:pPr lvl="1"/>
            <a:r>
              <a:rPr lang="en-US" sz="2000" dirty="0"/>
              <a:t>Comparing latitude and longitude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8E37C-A4C0-9981-AE7D-9DDFBBEF587E}"/>
              </a:ext>
            </a:extLst>
          </p:cNvPr>
          <p:cNvSpPr txBox="1"/>
          <p:nvPr/>
        </p:nvSpPr>
        <p:spPr>
          <a:xfrm>
            <a:off x="3942216" y="841732"/>
            <a:ext cx="75352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How does the BIN diversity differ between Phoronida sampled from Panama (tropical) vs Canada (temperate)?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0371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A02D4-8B3C-C380-A62C-7FE34E56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37" y="1198418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Introduction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D9FA-855C-B92C-3C3F-559953C4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138" y="226945"/>
            <a:ext cx="7032792" cy="6124242"/>
          </a:xfrm>
        </p:spPr>
        <p:txBody>
          <a:bodyPr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6700" dirty="0"/>
              <a:t>Why Study Phoronida?</a:t>
            </a:r>
          </a:p>
          <a:p>
            <a:pPr marL="0" indent="0">
              <a:buNone/>
            </a:pPr>
            <a:endParaRPr lang="en-CA" sz="6700" dirty="0"/>
          </a:p>
          <a:p>
            <a:pPr marL="0" lvl="0" indent="0">
              <a:buNone/>
            </a:pPr>
            <a:endParaRPr lang="en-US" sz="2600" dirty="0"/>
          </a:p>
          <a:p>
            <a:pPr lvl="0"/>
            <a:r>
              <a:rPr lang="en-US" sz="5100" dirty="0"/>
              <a:t>Key to understanding lophophorate evolution [1]</a:t>
            </a:r>
          </a:p>
          <a:p>
            <a:pPr lvl="1"/>
            <a:r>
              <a:rPr lang="en-US" sz="4200" dirty="0"/>
              <a:t>Helps clarify long-debated phylogenetic placements [1]</a:t>
            </a:r>
          </a:p>
          <a:p>
            <a:pPr lvl="0"/>
            <a:r>
              <a:rPr lang="en-US" sz="5100" dirty="0"/>
              <a:t>Used to study numerous developmental, physiological and morphological traits [1]</a:t>
            </a:r>
            <a:endParaRPr lang="en-CA" sz="5100" dirty="0"/>
          </a:p>
          <a:p>
            <a:pPr lvl="0"/>
            <a:r>
              <a:rPr lang="en-US" sz="5100" dirty="0"/>
              <a:t>Bridge between morphology and genomics</a:t>
            </a:r>
          </a:p>
          <a:p>
            <a:pPr lvl="1"/>
            <a:r>
              <a:rPr lang="en-US" sz="4200" dirty="0"/>
              <a:t> Genetically diverse but morphologically uniform [1]</a:t>
            </a:r>
          </a:p>
          <a:p>
            <a:r>
              <a:rPr lang="en-US" sz="5100" dirty="0"/>
              <a:t>Global phoronid diversity is underestimated [2]</a:t>
            </a:r>
          </a:p>
          <a:p>
            <a:pPr lvl="1"/>
            <a:r>
              <a:rPr lang="en-US" sz="4200" dirty="0"/>
              <a:t>Least number of species of the high-rank animal clades [1]</a:t>
            </a:r>
          </a:p>
          <a:p>
            <a:pPr lvl="1"/>
            <a:r>
              <a:rPr lang="en-US" sz="4200" dirty="0"/>
              <a:t>Undescribed phoronid lineages in waters [2]</a:t>
            </a:r>
          </a:p>
          <a:p>
            <a:pPr lvl="0"/>
            <a:r>
              <a:rPr lang="en-US" sz="5100" dirty="0"/>
              <a:t>Small phylum</a:t>
            </a:r>
          </a:p>
          <a:p>
            <a:pPr lvl="1"/>
            <a:r>
              <a:rPr lang="en-US" sz="4200" dirty="0"/>
              <a:t>Need for continued sampling to add to diversity [2]</a:t>
            </a:r>
            <a:endParaRPr lang="en-CA" sz="4200" dirty="0"/>
          </a:p>
          <a:p>
            <a:endParaRPr lang="en-CA" sz="2600" dirty="0"/>
          </a:p>
        </p:txBody>
      </p:sp>
    </p:spTree>
    <p:extLst>
      <p:ext uri="{BB962C8B-B14F-4D97-AF65-F5344CB8AC3E}">
        <p14:creationId xmlns:p14="http://schemas.microsoft.com/office/powerpoint/2010/main" val="385354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9CF86-1C75-1C63-697D-BCFD1AEC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45632-F717-4F00-6B64-AB2DA04B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4" y="1198418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Introduction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D075-2C3A-57CF-77C4-A442EA2B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624" y="740200"/>
            <a:ext cx="6906491" cy="5585619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200" dirty="0"/>
              <a:t>Studying Phoronida helps answer fundamental questions about:</a:t>
            </a:r>
          </a:p>
          <a:p>
            <a:pPr marL="0" lvl="0" indent="0">
              <a:buNone/>
            </a:pPr>
            <a:endParaRPr lang="en-US" sz="3200" dirty="0"/>
          </a:p>
          <a:p>
            <a:r>
              <a:rPr lang="en-US" dirty="0"/>
              <a:t>The true scale of marine biodiversity, especially in underexplored tropical and temperate  regions</a:t>
            </a:r>
            <a:endParaRPr lang="en-CA" dirty="0"/>
          </a:p>
          <a:p>
            <a:r>
              <a:rPr lang="en-US" dirty="0"/>
              <a:t>How genetics can reveal hidden relationships and cryptic species</a:t>
            </a:r>
          </a:p>
          <a:p>
            <a:r>
              <a:rPr lang="en-US" dirty="0"/>
              <a:t>The evolution of the developmental systems in the larvae and adults</a:t>
            </a:r>
            <a:endParaRPr lang="en-CA" dirty="0"/>
          </a:p>
          <a:p>
            <a:pPr lvl="1"/>
            <a:endParaRPr lang="en-CA" sz="20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14015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978A3-5E4F-F5FE-885C-3235ED48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F3E03-7F43-46AB-37DC-EDA2466C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10" y="626399"/>
            <a:ext cx="295120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Methods</a:t>
            </a:r>
            <a:endParaRPr lang="en-CA" dirty="0">
              <a:solidFill>
                <a:srgbClr val="FFFFFF"/>
              </a:solidFill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827272E-E1BC-D3F9-3D25-7CF9EF924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563047"/>
              </p:ext>
            </p:extLst>
          </p:nvPr>
        </p:nvGraphicFramePr>
        <p:xfrm>
          <a:off x="4555949" y="364331"/>
          <a:ext cx="7498080" cy="6459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A4DC2CD-8CDD-5DC0-2146-CCD804215B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92847" y="4685553"/>
            <a:ext cx="1354512" cy="135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1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909A-CB48-899E-330F-BADCD8D6E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55" y="1"/>
            <a:ext cx="10791685" cy="838804"/>
          </a:xfrm>
        </p:spPr>
        <p:txBody>
          <a:bodyPr>
            <a:noAutofit/>
          </a:bodyPr>
          <a:lstStyle/>
          <a:p>
            <a:r>
              <a:rPr lang="en-US" sz="2800" dirty="0"/>
              <a:t>Panama Had Significantly More Samples Collected Compared to Canada</a:t>
            </a:r>
            <a:endParaRPr lang="en-CA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509639-F8C9-76E7-3A8A-9E38F387C15C}"/>
              </a:ext>
            </a:extLst>
          </p:cNvPr>
          <p:cNvSpPr txBox="1">
            <a:spLocks/>
          </p:cNvSpPr>
          <p:nvPr/>
        </p:nvSpPr>
        <p:spPr>
          <a:xfrm>
            <a:off x="1731876" y="5682761"/>
            <a:ext cx="3571810" cy="1021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Figure 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DF3FE3-939A-7D14-9368-3FE003B5BD40}"/>
              </a:ext>
            </a:extLst>
          </p:cNvPr>
          <p:cNvCxnSpPr>
            <a:cxnSpLocks/>
          </p:cNvCxnSpPr>
          <p:nvPr/>
        </p:nvCxnSpPr>
        <p:spPr>
          <a:xfrm>
            <a:off x="0" y="664369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6ADAAE8-76FD-F6B7-F7F4-535230410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838804"/>
            <a:ext cx="8529724" cy="545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3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F8FA-0C99-D38E-53A6-978240AF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8FE3-3B33-3D06-2010-8CB6A23E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7" y="-180425"/>
            <a:ext cx="12078447" cy="978927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Panama Shows Higher BIN Richness Than Canada, Suggesting Greater Diversity</a:t>
            </a:r>
            <a:endParaRPr lang="en-CA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3183BC-69FB-F8E2-45ED-FF5A00E9F710}"/>
              </a:ext>
            </a:extLst>
          </p:cNvPr>
          <p:cNvSpPr txBox="1">
            <a:spLocks/>
          </p:cNvSpPr>
          <p:nvPr/>
        </p:nvSpPr>
        <p:spPr>
          <a:xfrm>
            <a:off x="1743829" y="5682761"/>
            <a:ext cx="3571810" cy="1021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Figure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12BD25-6D2F-EE56-EF1B-BCA654E5D870}"/>
              </a:ext>
            </a:extLst>
          </p:cNvPr>
          <p:cNvCxnSpPr>
            <a:cxnSpLocks/>
          </p:cNvCxnSpPr>
          <p:nvPr/>
        </p:nvCxnSpPr>
        <p:spPr>
          <a:xfrm>
            <a:off x="0" y="664369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3E01ADE-6EB0-4C2D-9C1F-24C948C9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536" y="908424"/>
            <a:ext cx="8258140" cy="52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FAC18-7D96-F7DB-0121-1660CC63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8EC04-9106-E03C-091B-747F2B06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13" y="1089962"/>
            <a:ext cx="3718188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Results and Discussion  - Boxplots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B1B8-D8C2-8D8D-32B1-D1605EB3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72" y="185271"/>
            <a:ext cx="7188022" cy="6496423"/>
          </a:xfrm>
        </p:spPr>
        <p:txBody>
          <a:bodyPr anchor="ctr">
            <a:normAutofit fontScale="55000" lnSpcReduction="20000"/>
          </a:bodyPr>
          <a:lstStyle/>
          <a:p>
            <a:r>
              <a:rPr lang="en-US" sz="3600" dirty="0"/>
              <a:t>There are significantly more samples that were taken from Panama in comparison to Canada</a:t>
            </a:r>
          </a:p>
          <a:p>
            <a:pPr lvl="1"/>
            <a:r>
              <a:rPr lang="en-US" sz="2900" dirty="0"/>
              <a:t>The sampling effort or available data/resources was greater in Panama</a:t>
            </a:r>
          </a:p>
          <a:p>
            <a:r>
              <a:rPr lang="en-US" sz="3600" dirty="0"/>
              <a:t>This can skew the BIN diversity results since a larger sample size has more potential for diversity, but it doesn’t necessarily mean that Panama has greater diversity</a:t>
            </a:r>
          </a:p>
          <a:p>
            <a:r>
              <a:rPr lang="en-US" sz="3600" dirty="0"/>
              <a:t>Suggests that any comparison made between the samples must be accounted for sampling bias</a:t>
            </a:r>
          </a:p>
          <a:p>
            <a:r>
              <a:rPr lang="en-US" sz="3600" dirty="0"/>
              <a:t>There are more unique BINs that were sampled from Panama compared to Canada</a:t>
            </a:r>
          </a:p>
          <a:p>
            <a:pPr lvl="1"/>
            <a:r>
              <a:rPr lang="en-US" sz="2900" dirty="0"/>
              <a:t>Suggests that Panama has a greater species diversity</a:t>
            </a:r>
          </a:p>
          <a:p>
            <a:pPr lvl="1"/>
            <a:r>
              <a:rPr lang="en-US" sz="2900" dirty="0"/>
              <a:t>To truly be able to interpret this, it would have to be assumed that there was an equal number of samples taken between both countries</a:t>
            </a:r>
          </a:p>
          <a:p>
            <a:r>
              <a:rPr lang="en-US" sz="3600" dirty="0"/>
              <a:t>Tropical regions (Panama) may host higher Phoronida diversity than temperate regions (Canada)</a:t>
            </a:r>
          </a:p>
          <a:p>
            <a:pPr lvl="1"/>
            <a:r>
              <a:rPr lang="en-US" sz="2900" dirty="0"/>
              <a:t>Diversity may be influenced by different environmental conditions</a:t>
            </a:r>
          </a:p>
          <a:p>
            <a:r>
              <a:rPr lang="en-US" sz="3600" dirty="0"/>
              <a:t>There is an incomplete representation if sampling is limited geographically</a:t>
            </a:r>
          </a:p>
          <a:p>
            <a:r>
              <a:rPr lang="en-US" sz="3600" dirty="0"/>
              <a:t>These results can’t be interpreted accurately since there is unequal sampling and potential biases involved</a:t>
            </a:r>
          </a:p>
          <a:p>
            <a:r>
              <a:rPr lang="en-US" sz="3600" dirty="0"/>
              <a:t>If there were more samples taken from Canada, there could be a higher BIN diversity in comparison to Panama</a:t>
            </a:r>
          </a:p>
          <a:p>
            <a:pPr lvl="1"/>
            <a:r>
              <a:rPr lang="en-US" sz="2900" dirty="0"/>
              <a:t>Would need to increase sampling size to confirm this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091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D64F-972E-8FE6-C4EC-2D9B5293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651E-BAD5-9D0B-E0A6-8C43A687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53786"/>
            <a:ext cx="12150164" cy="8522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BIN Accumulation Increases More Steeply in Panama, but Canada Initially Shows Higher Diversity Per Sample</a:t>
            </a:r>
            <a:endParaRPr lang="en-CA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7DD282-A504-DCA3-9650-15BD4D2424AF}"/>
              </a:ext>
            </a:extLst>
          </p:cNvPr>
          <p:cNvSpPr txBox="1">
            <a:spLocks/>
          </p:cNvSpPr>
          <p:nvPr/>
        </p:nvSpPr>
        <p:spPr>
          <a:xfrm>
            <a:off x="1731876" y="5754478"/>
            <a:ext cx="3571810" cy="1021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Figure 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3E6E52-CE12-6139-AB64-7BD192627E5F}"/>
              </a:ext>
            </a:extLst>
          </p:cNvPr>
          <p:cNvCxnSpPr>
            <a:cxnSpLocks/>
          </p:cNvCxnSpPr>
          <p:nvPr/>
        </p:nvCxnSpPr>
        <p:spPr>
          <a:xfrm>
            <a:off x="0" y="742063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A0D26C7-B4A2-F19B-4F3A-4DFEA8C64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76" y="798502"/>
            <a:ext cx="8818364" cy="564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9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2E87E-853B-A0B7-3943-3792BAED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426AE-1517-9090-1DDB-B77F33ED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41" y="1153571"/>
            <a:ext cx="342399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Results and Discussion  - Accumulation Curve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5B3F-7DBE-10FB-997B-885C91B6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224" y="131482"/>
            <a:ext cx="6946035" cy="6586071"/>
          </a:xfrm>
        </p:spPr>
        <p:txBody>
          <a:bodyPr anchor="ctr">
            <a:normAutofit fontScale="62500" lnSpcReduction="20000"/>
          </a:bodyPr>
          <a:lstStyle/>
          <a:p>
            <a:r>
              <a:rPr lang="en-US" dirty="0"/>
              <a:t>Panama continues to gain unique BINs as the sample size increases, meanwhile Canada starts to level off earlier</a:t>
            </a:r>
          </a:p>
          <a:p>
            <a:pPr lvl="1"/>
            <a:r>
              <a:rPr lang="en-US" sz="2300" dirty="0"/>
              <a:t>The rising curve in Panama implies incomplete sampling </a:t>
            </a:r>
          </a:p>
          <a:p>
            <a:r>
              <a:rPr lang="en-US" dirty="0"/>
              <a:t>Can indicate that Panama has higher species diversity and that additional sampling would continue to reveal more BINs</a:t>
            </a:r>
          </a:p>
          <a:p>
            <a:pPr lvl="1"/>
            <a:r>
              <a:rPr lang="en-US" sz="2300" dirty="0"/>
              <a:t>Would need to collect more data from Canada to confirm a more accurate number for alpha richness in Phoronida</a:t>
            </a:r>
          </a:p>
          <a:p>
            <a:pPr lvl="1"/>
            <a:r>
              <a:rPr lang="en-US" sz="2300" dirty="0"/>
              <a:t>Panama had more samples, so overall trend reveals a higher number of unique BINs</a:t>
            </a:r>
          </a:p>
          <a:p>
            <a:r>
              <a:rPr lang="en-US" dirty="0"/>
              <a:t>The curve representing Canada begins to flatten early (around 6 BINs), which may suggest that most of the Phoronida diversity that resides there has already been captured within the samples</a:t>
            </a:r>
          </a:p>
          <a:p>
            <a:r>
              <a:rPr lang="en-US" dirty="0"/>
              <a:t>All these results can’t be read with 100% accuracy due to the big difference between sampling size</a:t>
            </a:r>
          </a:p>
          <a:p>
            <a:pPr lvl="1"/>
            <a:r>
              <a:rPr lang="en-US" sz="2300" dirty="0"/>
              <a:t>Allows for Panama to have a longer curve and potentially more variety</a:t>
            </a:r>
          </a:p>
          <a:p>
            <a:r>
              <a:rPr lang="en-US" dirty="0"/>
              <a:t>When both sample sizes reach 15, the BIN diversity is higher in Canada compared to Panama</a:t>
            </a:r>
          </a:p>
          <a:p>
            <a:pPr lvl="1"/>
            <a:r>
              <a:rPr lang="en-US" sz="2300" dirty="0"/>
              <a:t>Can suggest that the initial samples taken from Canada contributed to more new BINs than the early samples taken from Panama</a:t>
            </a:r>
          </a:p>
          <a:p>
            <a:r>
              <a:rPr lang="en-US" dirty="0"/>
              <a:t>Overall, omitting different samples sizes, the trend suggest that tropical regions like Panama may host a higher number of genetically diverse Phoronida in comparison to temperate regions like Canada</a:t>
            </a:r>
          </a:p>
          <a:p>
            <a:r>
              <a:rPr lang="en-US" dirty="0"/>
              <a:t>Studies have shown that there more species that haven’t been sampled in Panama [2]</a:t>
            </a:r>
          </a:p>
          <a:p>
            <a:pPr lvl="1"/>
            <a:r>
              <a:rPr lang="en-US" dirty="0"/>
              <a:t>This confirms that the accumulation curve could start to flatten out once more species are being sampled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1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CB0E2-B22C-CBFC-0A8D-762AD08E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E9AA-913C-C66C-893A-53418DA8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68" y="1058156"/>
            <a:ext cx="363168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Results and Discussion – Wilcoxon Test 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9555-0563-A42C-98C8-04D8AB476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168" y="528216"/>
            <a:ext cx="7106291" cy="6219219"/>
          </a:xfrm>
        </p:spPr>
        <p:txBody>
          <a:bodyPr anchor="ctr">
            <a:normAutofit fontScale="77500" lnSpcReduction="20000"/>
          </a:bodyPr>
          <a:lstStyle/>
          <a:p>
            <a:r>
              <a:rPr lang="en-US" dirty="0"/>
              <a:t>Latitude: </a:t>
            </a:r>
          </a:p>
          <a:p>
            <a:pPr lvl="1"/>
            <a:r>
              <a:rPr lang="en-US" sz="2600" dirty="0"/>
              <a:t>p-value = 2.808e-12</a:t>
            </a:r>
          </a:p>
          <a:p>
            <a:pPr lvl="1"/>
            <a:r>
              <a:rPr lang="en-US" sz="2600" dirty="0"/>
              <a:t>small p-value means the difference is highly statistically significant</a:t>
            </a:r>
          </a:p>
          <a:p>
            <a:pPr lvl="1"/>
            <a:r>
              <a:rPr lang="en-US" sz="2600" dirty="0"/>
              <a:t>interpretation: latitudes of samples from Panama and Canada differ significantly - which makes sense since Panama in near the equator (low latitudes) and Canada is much farther north (high latitudes)</a:t>
            </a:r>
          </a:p>
          <a:p>
            <a:pPr lvl="1"/>
            <a:r>
              <a:rPr lang="en-US" sz="2600" dirty="0"/>
              <a:t>Results validate that the two sampling regions represent two different environmental zones (temperate vs tropical)</a:t>
            </a:r>
          </a:p>
          <a:p>
            <a:r>
              <a:rPr lang="en-US" dirty="0"/>
              <a:t>Longitude:</a:t>
            </a:r>
          </a:p>
          <a:p>
            <a:pPr lvl="1"/>
            <a:r>
              <a:rPr lang="en-US" sz="2600" dirty="0"/>
              <a:t>p-value = 2.808e-12</a:t>
            </a:r>
          </a:p>
          <a:p>
            <a:pPr lvl="1"/>
            <a:r>
              <a:rPr lang="en-US" sz="2600" dirty="0"/>
              <a:t>small p-value, so the difference in longitudes between the two countries is statistically significant</a:t>
            </a:r>
          </a:p>
          <a:p>
            <a:pPr lvl="1"/>
            <a:r>
              <a:rPr lang="en-US" sz="2600" dirty="0"/>
              <a:t>Interpretation: sampling sites in Panama and Canada are geographically distinct along the east–west axis (longitude)</a:t>
            </a:r>
          </a:p>
          <a:p>
            <a:pPr lvl="1"/>
            <a:r>
              <a:rPr lang="en-US" sz="2600" dirty="0"/>
              <a:t>Results reinforce that Canada and Panama are located in different oceanic regions, so samples were taken from varying conditions</a:t>
            </a:r>
          </a:p>
          <a:p>
            <a:r>
              <a:rPr lang="en-US" dirty="0"/>
              <a:t>Adult phoronids are found in most of the world’s oceans, in both temperate and tropical regions [2]</a:t>
            </a:r>
          </a:p>
          <a:p>
            <a:pPr lvl="1"/>
            <a:r>
              <a:rPr lang="en-US" dirty="0"/>
              <a:t>Overall, the two datasets represent populations that are geographically and environmentally distinct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7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970A0-5E5A-D824-EC22-2AC8700C1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7903F-3970-20D5-A3C4-B1E091F6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67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Acknowledgements</a:t>
            </a:r>
            <a:endParaRPr lang="en-CA" sz="2800" dirty="0">
              <a:solidFill>
                <a:srgbClr val="FFFFFF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56494-6A53-993F-CEC9-4E5FF2E0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27" y="1396687"/>
            <a:ext cx="6867720" cy="516398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Sabrina: helped me brainstorm project ideas, and helped me find errors in my code</a:t>
            </a:r>
          </a:p>
          <a:p>
            <a:pPr lvl="1"/>
            <a:r>
              <a:rPr lang="en-US" sz="1800" dirty="0"/>
              <a:t>I was able to pick an interesting topic and correct any bugs so that my script can run smoothly</a:t>
            </a:r>
          </a:p>
          <a:p>
            <a:r>
              <a:rPr lang="en-US" sz="2200" dirty="0"/>
              <a:t>Nicholas: advised me to run a Wilcoxon test</a:t>
            </a:r>
          </a:p>
          <a:p>
            <a:pPr lvl="1"/>
            <a:r>
              <a:rPr lang="en-US" sz="1800" dirty="0"/>
              <a:t>I was able to figure out how to conduct this test and therefore get a statistical significance of the locations where the samples were taken</a:t>
            </a:r>
          </a:p>
          <a:p>
            <a:r>
              <a:rPr lang="en-US" sz="2200" dirty="0"/>
              <a:t>Farah: assisted in explaining how to save my graphs</a:t>
            </a:r>
          </a:p>
          <a:p>
            <a:pPr lvl="1"/>
            <a:r>
              <a:rPr lang="en-US" sz="1800" dirty="0"/>
              <a:t>I was having a hard time saving my accumulation curve, but she showed me the syntax and after some trial and error, I was able to save it properly</a:t>
            </a:r>
          </a:p>
          <a:p>
            <a:r>
              <a:rPr lang="en-US" sz="2200" dirty="0"/>
              <a:t>Liona: ran my script to make sure everything was smooth</a:t>
            </a:r>
          </a:p>
          <a:p>
            <a:pPr lvl="1"/>
            <a:r>
              <a:rPr lang="en-US" sz="1800" dirty="0"/>
              <a:t>I was able to find minor errors that didn’t run on their computers and correct said errors</a:t>
            </a:r>
          </a:p>
          <a:p>
            <a:r>
              <a:rPr lang="en-US" sz="2200" dirty="0"/>
              <a:t>Eva: helped me understand how to inspect my data by country</a:t>
            </a:r>
          </a:p>
          <a:p>
            <a:pPr lvl="1"/>
            <a:r>
              <a:rPr lang="en-US" sz="1800" dirty="0"/>
              <a:t>I was able to compare how many unique species and BINs existed in my two countries of interest</a:t>
            </a:r>
          </a:p>
          <a:p>
            <a:endParaRPr lang="en-US" sz="2200" dirty="0"/>
          </a:p>
          <a:p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700493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D691A-5477-BA2F-E462-8067EF71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34708-4CF9-B111-E6B6-C3BDEB6C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508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References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46AA6-D047-BA1D-1F25-A9017170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27" y="2326918"/>
            <a:ext cx="6671337" cy="3727247"/>
          </a:xfrm>
        </p:spPr>
        <p:txBody>
          <a:bodyPr>
            <a:normAutofit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[1] Gąsiorowski, L. (2024). Phoronida—A small clade with a big role in understanding the evolution of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lophophorates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Evolution &amp; Development, 26(4), e12437-n/a.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https://doi.org/10.1111/ede.12437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[2] Collin, R., Venera-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Pontón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D. E., Driskell, A. C., Macdonald, K. S., Chan, K.-Y. K., &amp; Boyle, M. J. (2019). Documenting neotropical diversity of phoronids with DNA barcoding of planktonic larvae. Invertebrate Biology, 138(2), 1–15.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https://doi.org/10.1111/ivb.12242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None/>
            </a:pPr>
            <a:endParaRPr lang="en-CA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CA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663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1232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BIN Diversity in Phoronida (Horseshoe Worms): Canada vs Panama</vt:lpstr>
      <vt:lpstr>Introduction</vt:lpstr>
      <vt:lpstr>Introduction</vt:lpstr>
      <vt:lpstr>Introduction</vt:lpstr>
      <vt:lpstr>Methods</vt:lpstr>
      <vt:lpstr>Panama Had Significantly More Samples Collected Compared to Canada</vt:lpstr>
      <vt:lpstr>Panama Shows Higher BIN Richness Than Canada, Suggesting Greater Diversity</vt:lpstr>
      <vt:lpstr>Results and Discussion  - Boxplots</vt:lpstr>
      <vt:lpstr>BIN Accumulation Increases More Steeply in Panama, but Canada Initially Shows Higher Diversity Per Sample</vt:lpstr>
      <vt:lpstr>Results and Discussion  - Accumulation Curve</vt:lpstr>
      <vt:lpstr>Results and Discussion – Wilcoxon Test </vt:lpstr>
      <vt:lpstr>Acknowledgements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Tsukernik</dc:creator>
  <cp:lastModifiedBy>Sharon Tsukernik</cp:lastModifiedBy>
  <cp:revision>1</cp:revision>
  <dcterms:created xsi:type="dcterms:W3CDTF">2025-10-12T15:20:28Z</dcterms:created>
  <dcterms:modified xsi:type="dcterms:W3CDTF">2025-10-13T19:18:15Z</dcterms:modified>
</cp:coreProperties>
</file>